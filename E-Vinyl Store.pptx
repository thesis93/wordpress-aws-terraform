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media/image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943095-9BC3-4026-860A-F4DD9F130D66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0737C-6BEB-4D54-A143-6D07EE57CA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6EF2AF-304D-43A1-843E-14D6849EA8F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47050B-2539-4D3C-9961-58BD9CDB75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669B8C-14B9-46D9-807C-C2FF3E2717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BE4DC4-B248-4D01-8D6B-C7CEB761F8D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AFA5BB-3FA7-4F3D-8882-47F45279229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D029D-F095-4178-9E04-0A91C09AB2D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F16C06-7172-4338-A0B7-656914259B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B0F87C-88CF-4144-831F-DDD1FB545F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9E7F25-67DA-4793-95F4-FE4F5FE5B2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F092F6-839E-4E27-B414-FE187E5851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0BB545-F7EF-4D9F-901F-0103D328518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0B9BC2-712E-4B43-A10E-169EFA93DF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EE18B3-DCA0-4FFD-A8E1-0333263716D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D426B2-D14B-4773-8D27-82C32AB0AE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692640" y="-1188720"/>
            <a:ext cx="3840120" cy="384012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515600" y="-548640"/>
            <a:ext cx="2377080" cy="23770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280160" y="4754880"/>
            <a:ext cx="3291480" cy="329148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20574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E-COMMERCE CAPSTONE PROJECT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2468880"/>
            <a:ext cx="102409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Highly Available Online Vinyl Store</a:t>
            </a:r>
            <a:endParaRPr b="0" lang="en-GB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49880" y="397764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 WordPress + WooCommerce record shop, deployed with Terraform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77240" y="4800600"/>
            <a:ext cx="3108960" cy="360"/>
          </a:xfrm>
          <a:prstGeom prst="line">
            <a:avLst/>
          </a:prstGeom>
          <a:ln w="3175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49880" y="4983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ec2d6"/>
                </a:solidFill>
                <a:effectLst/>
                <a:uFillTx/>
                <a:latin typeface="Calibri"/>
                <a:ea typeface="Calibri"/>
              </a:rPr>
              <a:t>Prepared by Houssem  ·  October 2026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Agenda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548640" y="1600200"/>
            <a:ext cx="5486040" cy="712800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713160" y="1600200"/>
            <a:ext cx="776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600200" y="171000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Store goal &amp; architecture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600200" y="19843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What the shop needs and how it fits together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6336720" y="1600200"/>
            <a:ext cx="5486040" cy="712800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501240" y="1600200"/>
            <a:ext cx="776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7388280" y="171000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Core AWS components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7388280" y="19843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Network, storefront, and catalog database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548640" y="2468880"/>
            <a:ext cx="5486040" cy="712800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713160" y="2468880"/>
            <a:ext cx="776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1600200" y="257868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High availability &amp; security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1600200" y="28530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Surviving failure, layered access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6336720" y="2468880"/>
            <a:ext cx="5486040" cy="712800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6501240" y="2468880"/>
            <a:ext cx="776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7388280" y="257868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Infrastructure as Code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7388280" y="28530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The project defined in Terraform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548640" y="3337560"/>
            <a:ext cx="5486040" cy="712800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713160" y="3337560"/>
            <a:ext cx="776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1600200" y="344736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Terraform code examples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1600200" y="37216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VPC and subnets, in detail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6336720" y="3337560"/>
            <a:ext cx="5486040" cy="712800"/>
          </a:xfrm>
          <a:prstGeom prst="roundRect">
            <a:avLst>
              <a:gd name="adj" fmla="val 10256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6501240" y="3337560"/>
            <a:ext cx="776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7388280" y="344736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Live store &amp; deployment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7388280" y="372168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The running shop, and cleanup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STORE GOAL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The Goal: An Online Vinyl Store That Never Skips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48640" y="146304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Run an online vinyl record shop that stays open during release-day rushes and scales with demand — all defined and deployed from code.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548640" y="228600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822960" y="2606040"/>
            <a:ext cx="731160" cy="73116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822960" y="2606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804600" y="3566160"/>
            <a:ext cx="2185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Always Open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04600" y="4160520"/>
            <a:ext cx="21852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Keep the shop online even if an entire Availability Zone goes down.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3483720" y="228600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3758040" y="2606040"/>
            <a:ext cx="731160" cy="7311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3758040" y="2606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3740040" y="3566160"/>
            <a:ext cx="2185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Scales on Demand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3740040" y="4160520"/>
            <a:ext cx="21852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Add servers automatically when a hot release sends traffic spiking.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6419160" y="228600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6693480" y="2606040"/>
            <a:ext cx="731160" cy="73116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6693480" y="2606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6675120" y="3566160"/>
            <a:ext cx="2185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Secure Checkout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6675120" y="4160520"/>
            <a:ext cx="21852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Layered access — customer and order data is never exposed to the internet.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9354240" y="2286000"/>
            <a:ext cx="2697120" cy="3565800"/>
          </a:xfrm>
          <a:prstGeom prst="roundRect">
            <a:avLst>
              <a:gd name="adj" fmla="val 2712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9"/>
          <p:cNvSpPr/>
          <p:nvPr/>
        </p:nvSpPr>
        <p:spPr>
          <a:xfrm>
            <a:off x="9628560" y="2606040"/>
            <a:ext cx="731160" cy="7311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9628560" y="2606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9610200" y="3566160"/>
            <a:ext cx="2185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Automation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9610200" y="4160520"/>
            <a:ext cx="21852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Build the whole store environment from code, repeatably, in one command.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THE BIG PICTURE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Store Architecture at a Glance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4722840" y="1371600"/>
            <a:ext cx="2742840" cy="411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4722840" y="137160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Users / Internet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4722840" y="1371600"/>
            <a:ext cx="2742840" cy="411120"/>
          </a:xfrm>
          <a:prstGeom prst="roundRect">
            <a:avLst>
              <a:gd name="adj" fmla="val 13333"/>
            </a:avLst>
          </a:prstGeom>
          <a:noFill/>
          <a:ln w="12700">
            <a:solidFill>
              <a:srgbClr val="c9d6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6094440" y="1783080"/>
            <a:ext cx="360" cy="301680"/>
          </a:xfrm>
          <a:prstGeom prst="line">
            <a:avLst/>
          </a:prstGeom>
          <a:ln w="28575">
            <a:solidFill>
              <a:srgbClr val="0a4d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4722840" y="2084760"/>
            <a:ext cx="2742840" cy="4111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4722840" y="20847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Internet Gateway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640080" y="2697480"/>
            <a:ext cx="10908360" cy="3657240"/>
          </a:xfrm>
          <a:prstGeom prst="roundRect">
            <a:avLst>
              <a:gd name="adj" fmla="val 1000"/>
            </a:avLst>
          </a:prstGeom>
          <a:solidFill>
            <a:srgbClr val="f7fafc"/>
          </a:solidFill>
          <a:ln w="19050">
            <a:solidFill>
              <a:srgbClr val="0a4d6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822960" y="27432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4d68"/>
                </a:solidFill>
                <a:effectLst/>
                <a:uFillTx/>
                <a:latin typeface="Calibri"/>
                <a:ea typeface="Calibri"/>
              </a:rPr>
              <a:t>VPC  ·  10.0.0.0/16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960120" y="3063240"/>
            <a:ext cx="10240920" cy="1005480"/>
          </a:xfrm>
          <a:prstGeom prst="roundRect">
            <a:avLst>
              <a:gd name="adj" fmla="val 3636"/>
            </a:avLst>
          </a:prstGeom>
          <a:solidFill>
            <a:srgbClr val="ea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1097280" y="30906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Public Subnets  ·  us-west-2a  /  us-west-2b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4357080" y="3364920"/>
            <a:ext cx="3474360" cy="566640"/>
          </a:xfrm>
          <a:prstGeom prst="roundRect">
            <a:avLst>
              <a:gd name="adj" fmla="val 9677"/>
            </a:avLst>
          </a:prstGeom>
          <a:solidFill>
            <a:srgbClr val="0a4d68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4357080" y="3364920"/>
            <a:ext cx="3474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 Load Balancer  —  HTTP :80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8915400" y="3364920"/>
            <a:ext cx="2102760" cy="566640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8915400" y="336492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NAT Gateway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6094440" y="2496240"/>
            <a:ext cx="360" cy="868680"/>
          </a:xfrm>
          <a:prstGeom prst="line">
            <a:avLst/>
          </a:prstGeom>
          <a:ln w="28575">
            <a:solidFill>
              <a:srgbClr val="0a4d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960120" y="4206240"/>
            <a:ext cx="10240920" cy="2011320"/>
          </a:xfrm>
          <a:prstGeom prst="roundRect">
            <a:avLst>
              <a:gd name="adj" fmla="val 1818"/>
            </a:avLst>
          </a:prstGeom>
          <a:solidFill>
            <a:srgbClr val="ea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1097280" y="42336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Private Subnets  ·  us-west-2a  /  us-west-2b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3579840" y="4526280"/>
            <a:ext cx="5028840" cy="10054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3625560" y="455364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Auto Scaling Group (Storefront Fleet)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/>
          <p:cNvSpPr/>
          <p:nvPr/>
        </p:nvSpPr>
        <p:spPr>
          <a:xfrm>
            <a:off x="3808440" y="4846320"/>
            <a:ext cx="2148480" cy="566640"/>
          </a:xfrm>
          <a:prstGeom prst="roundRect">
            <a:avLst>
              <a:gd name="adj" fmla="val 9677"/>
            </a:avLst>
          </a:prstGeom>
          <a:solidFill>
            <a:srgbClr val="0a4d68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3808440" y="484632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EC2 · Store #1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3"/>
          <p:cNvSpPr/>
          <p:nvPr/>
        </p:nvSpPr>
        <p:spPr>
          <a:xfrm>
            <a:off x="6231600" y="4846320"/>
            <a:ext cx="2148480" cy="566640"/>
          </a:xfrm>
          <a:prstGeom prst="roundRect">
            <a:avLst>
              <a:gd name="adj" fmla="val 9677"/>
            </a:avLst>
          </a:prstGeom>
          <a:solidFill>
            <a:srgbClr val="0a4d68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6231600" y="4846320"/>
            <a:ext cx="2148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EC2 · Store #2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6094440" y="3931920"/>
            <a:ext cx="360" cy="594360"/>
          </a:xfrm>
          <a:prstGeom prst="line">
            <a:avLst/>
          </a:prstGeom>
          <a:ln w="28575">
            <a:solidFill>
              <a:srgbClr val="0a4d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4265640" y="5669280"/>
            <a:ext cx="3657240" cy="45684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4265640" y="56692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MySQL  ·  catalog &amp; orders  ·  :3306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6094440" y="5532120"/>
            <a:ext cx="360" cy="137160"/>
          </a:xfrm>
          <a:prstGeom prst="line">
            <a:avLst/>
          </a:prstGeom>
          <a:ln w="28575">
            <a:solidFill>
              <a:srgbClr val="0a4d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CORE COMPONENTS · 1 OF 3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The Network Foundation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548640" y="160020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749880" y="18561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749880" y="1856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1371600" y="176472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VPC (10.0.0.0/16)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1371600" y="2130480"/>
            <a:ext cx="4434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A private, isolated network inside AWS that holds every resource in the project.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7"/>
          <p:cNvSpPr/>
          <p:nvPr/>
        </p:nvSpPr>
        <p:spPr>
          <a:xfrm>
            <a:off x="6309360" y="160020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6510600" y="18561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6510600" y="1856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7132320" y="176472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Two Availability Zones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7132320" y="2130480"/>
            <a:ext cx="4434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Resources are duplicated across two separate data centers for redundancy.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2"/>
          <p:cNvSpPr/>
          <p:nvPr/>
        </p:nvSpPr>
        <p:spPr>
          <a:xfrm>
            <a:off x="548640" y="315468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3"/>
          <p:cNvSpPr/>
          <p:nvPr/>
        </p:nvSpPr>
        <p:spPr>
          <a:xfrm>
            <a:off x="749880" y="341064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749880" y="3410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1371600" y="33192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Public Subnets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1371600" y="3684960"/>
            <a:ext cx="4434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Internet-facing tier — holds the load balancer and the NAT gateway.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6309360" y="315468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8"/>
          <p:cNvSpPr/>
          <p:nvPr/>
        </p:nvSpPr>
        <p:spPr>
          <a:xfrm>
            <a:off x="6510600" y="341064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6510600" y="3410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0"/>
          <p:cNvSpPr/>
          <p:nvPr/>
        </p:nvSpPr>
        <p:spPr>
          <a:xfrm>
            <a:off x="7132320" y="33192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Private Subnets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1"/>
          <p:cNvSpPr/>
          <p:nvPr/>
        </p:nvSpPr>
        <p:spPr>
          <a:xfrm>
            <a:off x="7132320" y="3684960"/>
            <a:ext cx="4434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Protected tier — holds the WordPress servers and the database, with no direct internet access.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2"/>
          <p:cNvSpPr/>
          <p:nvPr/>
        </p:nvSpPr>
        <p:spPr>
          <a:xfrm>
            <a:off x="548640" y="470916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3"/>
          <p:cNvSpPr/>
          <p:nvPr/>
        </p:nvSpPr>
        <p:spPr>
          <a:xfrm>
            <a:off x="749880" y="49651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749880" y="4965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1371600" y="487368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Internet Gateway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6"/>
          <p:cNvSpPr/>
          <p:nvPr/>
        </p:nvSpPr>
        <p:spPr>
          <a:xfrm>
            <a:off x="1371600" y="5239440"/>
            <a:ext cx="4434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The doorway that lets public traffic reach the load balancer.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7"/>
          <p:cNvSpPr/>
          <p:nvPr/>
        </p:nvSpPr>
        <p:spPr>
          <a:xfrm>
            <a:off x="6309360" y="470916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8"/>
          <p:cNvSpPr/>
          <p:nvPr/>
        </p:nvSpPr>
        <p:spPr>
          <a:xfrm>
            <a:off x="6510600" y="49651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6510600" y="4965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0"/>
          <p:cNvSpPr/>
          <p:nvPr/>
        </p:nvSpPr>
        <p:spPr>
          <a:xfrm>
            <a:off x="7132320" y="487368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NAT Gateway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7132320" y="5239440"/>
            <a:ext cx="4434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Lets private servers reach out for updates while staying unreachable from outside.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2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3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CORE COMPONENTS · 2 OF 3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The Storefront &amp; Load Balancing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548640" y="1645920"/>
            <a:ext cx="11091240" cy="132552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868680" y="1947600"/>
            <a:ext cx="731160" cy="73116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868680" y="19476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1828800" y="1847160"/>
            <a:ext cx="9509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Application Load Balancer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1828800" y="2212920"/>
            <a:ext cx="9555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Receives all shopper traffic on port 80 and spreads it evenly across the store servers. It health-checks each one and stops sending traffic to any that fail.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548640" y="3136320"/>
            <a:ext cx="11091240" cy="132552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868680" y="3438000"/>
            <a:ext cx="731160" cy="73116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868680" y="3438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6222e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1828800" y="3337560"/>
            <a:ext cx="9509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Auto Scaling Group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1828800" y="3703320"/>
            <a:ext cx="9555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Keeps a fleet of servers running — 2 by default, growing to 4 when CPU passes 60%. If a server dies or an AZ fails, it automatically launches a replacement.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548640" y="4626720"/>
            <a:ext cx="11091240" cy="132552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868680" y="4928760"/>
            <a:ext cx="731160" cy="73116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868680" y="49287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1828800" y="4827960"/>
            <a:ext cx="9509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EC2 Instances (Storefront)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1828800" y="5193720"/>
            <a:ext cx="9555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Amazon Linux 2023 servers running Apache + PHP with WordPress and the WooCommerce shop. Each boots and configures itself, then connects to the shared catalog database.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CORE COMPONENTS · 3 OF 3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The Database Layer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548640" y="1463040"/>
            <a:ext cx="11091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One MySQL database holds the vinyl catalog, customer accounts, and every order — in a private subnet reachable only by the store servers.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548640" y="2240280"/>
            <a:ext cx="5440320" cy="169128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804600" y="253296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1536120" y="2514600"/>
            <a:ext cx="4251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MySQL on EC2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822960" y="3154680"/>
            <a:ext cx="4891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Runs MariaDB (MySQL) on a private EC2 instance that the storefront fleet connects to over the VPC.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6309360" y="2240280"/>
            <a:ext cx="5440320" cy="169128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6565320" y="253296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7296840" y="2514600"/>
            <a:ext cx="4251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Private &amp; isolated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6583680" y="3154680"/>
            <a:ext cx="4891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Sits in a private subnet; only the storefront security group can reach it on port 3306.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548640" y="4133160"/>
            <a:ext cx="5440320" cy="169128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804600" y="442584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1536120" y="4407480"/>
            <a:ext cx="4251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Designed for RDS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822960" y="5047560"/>
            <a:ext cx="4891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The intended design uses Amazon RDS Multi-AZ — swapped to EC2 because the lab environment restricts RDS.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5"/>
          <p:cNvSpPr/>
          <p:nvPr/>
        </p:nvSpPr>
        <p:spPr>
          <a:xfrm>
            <a:off x="6309360" y="4133160"/>
            <a:ext cx="5440320" cy="1691280"/>
          </a:xfrm>
          <a:prstGeom prst="roundRect">
            <a:avLst>
              <a:gd name="adj" fmla="val 4324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6565320" y="4425840"/>
            <a:ext cx="548280" cy="5482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7296840" y="4407480"/>
            <a:ext cx="4251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Production upgrade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6583680" y="5047560"/>
            <a:ext cx="4891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Moving to RDS would add managed failover, automated backups, and patching with no code rewrite.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DEFENSE IN DEPTH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Security: A Layered Chain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548640" y="146304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Each tier only accepts traffic from the tier in front of it — so customer and order data in the database is never reachable from the internet.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822960" y="2240280"/>
            <a:ext cx="2285640" cy="914040"/>
          </a:xfrm>
          <a:prstGeom prst="roundRect">
            <a:avLst>
              <a:gd name="adj" fmla="val 8000"/>
            </a:avLst>
          </a:prstGeom>
          <a:solidFill>
            <a:srgbClr val="8595a4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822960" y="2386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Internet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822960" y="27522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0.0.0.0/0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3163680" y="2697480"/>
            <a:ext cx="457200" cy="360"/>
          </a:xfrm>
          <a:prstGeom prst="line">
            <a:avLst/>
          </a:prstGeom>
          <a:ln w="31750">
            <a:solidFill>
              <a:srgbClr val="0a4d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3675960" y="2240280"/>
            <a:ext cx="2285640" cy="914040"/>
          </a:xfrm>
          <a:prstGeom prst="roundRect">
            <a:avLst>
              <a:gd name="adj" fmla="val 8000"/>
            </a:avLst>
          </a:prstGeom>
          <a:solidFill>
            <a:srgbClr val="0a4d68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3675960" y="2386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ALB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3675960" y="27522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allows :80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6016680" y="2697480"/>
            <a:ext cx="457200" cy="360"/>
          </a:xfrm>
          <a:prstGeom prst="line">
            <a:avLst/>
          </a:prstGeom>
          <a:ln w="31750">
            <a:solidFill>
              <a:srgbClr val="0a4d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6528960" y="2240280"/>
            <a:ext cx="2285640" cy="914040"/>
          </a:xfrm>
          <a:prstGeom prst="roundRect">
            <a:avLst>
              <a:gd name="adj" fmla="val 8000"/>
            </a:avLst>
          </a:prstGeom>
          <a:solidFill>
            <a:srgbClr val="0a4d68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6528960" y="2386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EC2 Fleet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6528960" y="27522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allows :80 from ALB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8869680" y="2697480"/>
            <a:ext cx="457200" cy="360"/>
          </a:xfrm>
          <a:prstGeom prst="line">
            <a:avLst/>
          </a:prstGeom>
          <a:ln w="31750">
            <a:solidFill>
              <a:srgbClr val="0a4d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5"/>
          <p:cNvSpPr/>
          <p:nvPr/>
        </p:nvSpPr>
        <p:spPr>
          <a:xfrm>
            <a:off x="9381600" y="2240280"/>
            <a:ext cx="2285640" cy="91404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fb2c2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9381600" y="2386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6222e"/>
                </a:solidFill>
                <a:effectLst/>
                <a:uFillTx/>
                <a:latin typeface="Cambria"/>
                <a:ea typeface="Cambria"/>
              </a:rPr>
              <a:t>Database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9381600" y="27522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allows :3306 from EC2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8"/>
          <p:cNvSpPr/>
          <p:nvPr/>
        </p:nvSpPr>
        <p:spPr>
          <a:xfrm>
            <a:off x="822960" y="3794760"/>
            <a:ext cx="10515240" cy="585000"/>
          </a:xfrm>
          <a:prstGeom prst="roundRect">
            <a:avLst>
              <a:gd name="adj" fmla="val 12500"/>
            </a:avLst>
          </a:prstGeom>
          <a:solidFill>
            <a:srgbClr val="eef4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9"/>
          <p:cNvSpPr/>
          <p:nvPr/>
        </p:nvSpPr>
        <p:spPr>
          <a:xfrm>
            <a:off x="1051560" y="3950280"/>
            <a:ext cx="273960" cy="27396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0"/>
          <p:cNvSpPr/>
          <p:nvPr/>
        </p:nvSpPr>
        <p:spPr>
          <a:xfrm>
            <a:off x="1508760" y="3794760"/>
            <a:ext cx="96922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Servers live in private subnets — no public IPs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1"/>
          <p:cNvSpPr/>
          <p:nvPr/>
        </p:nvSpPr>
        <p:spPr>
          <a:xfrm>
            <a:off x="822960" y="4507920"/>
            <a:ext cx="10515240" cy="585000"/>
          </a:xfrm>
          <a:prstGeom prst="roundRect">
            <a:avLst>
              <a:gd name="adj" fmla="val 12500"/>
            </a:avLst>
          </a:prstGeom>
          <a:solidFill>
            <a:srgbClr val="eef4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2"/>
          <p:cNvSpPr/>
          <p:nvPr/>
        </p:nvSpPr>
        <p:spPr>
          <a:xfrm>
            <a:off x="1051560" y="4663440"/>
            <a:ext cx="273960" cy="27396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3"/>
          <p:cNvSpPr/>
          <p:nvPr/>
        </p:nvSpPr>
        <p:spPr>
          <a:xfrm>
            <a:off x="1508760" y="4507920"/>
            <a:ext cx="96922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Database password is auto-generated, never hard-coded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4"/>
          <p:cNvSpPr/>
          <p:nvPr/>
        </p:nvSpPr>
        <p:spPr>
          <a:xfrm>
            <a:off x="822960" y="5221080"/>
            <a:ext cx="10515240" cy="585000"/>
          </a:xfrm>
          <a:prstGeom prst="roundRect">
            <a:avLst>
              <a:gd name="adj" fmla="val 12500"/>
            </a:avLst>
          </a:prstGeom>
          <a:solidFill>
            <a:srgbClr val="eef4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5"/>
          <p:cNvSpPr/>
          <p:nvPr/>
        </p:nvSpPr>
        <p:spPr>
          <a:xfrm>
            <a:off x="1051560" y="5376600"/>
            <a:ext cx="273960" cy="27396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6"/>
          <p:cNvSpPr/>
          <p:nvPr/>
        </p:nvSpPr>
        <p:spPr>
          <a:xfrm>
            <a:off x="1508760" y="5221080"/>
            <a:ext cx="96922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IMDSv2 enforced &amp; storage encrypted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7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8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HIGH AVAILABILITY &amp; SCALING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Built to Survive Failure &amp; Handle Load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548640" y="1691640"/>
            <a:ext cx="3584160" cy="228564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548640" y="1965960"/>
            <a:ext cx="3584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731520" y="2926080"/>
            <a:ext cx="321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Availability Zones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822960" y="3319200"/>
            <a:ext cx="303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The storefront is duplicated across two data centers.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4306680" y="1691640"/>
            <a:ext cx="3584160" cy="2285640"/>
          </a:xfrm>
          <a:prstGeom prst="roundRect">
            <a:avLst>
              <a:gd name="adj" fmla="val 3200"/>
            </a:avLst>
          </a:prstGeom>
          <a:solidFill>
            <a:srgbClr val="0a4d6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4306680" y="1965960"/>
            <a:ext cx="3584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2 → 4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4489560" y="2926080"/>
            <a:ext cx="321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Auto-scaling servers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4581000" y="3319200"/>
            <a:ext cx="303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ec2d6"/>
                </a:solidFill>
                <a:effectLst/>
                <a:uFillTx/>
                <a:latin typeface="Calibri"/>
                <a:ea typeface="Calibri"/>
              </a:rPr>
              <a:t>The fleet grows and shrinks with demand, automatically.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8065080" y="1691640"/>
            <a:ext cx="3584160" cy="228564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8065080" y="1965960"/>
            <a:ext cx="3584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Self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8247960" y="2926080"/>
            <a:ext cx="321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Self-healing fleet</a:t>
            </a:r>
            <a:endParaRPr b="0" lang="en-GB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8339400" y="3319200"/>
            <a:ext cx="303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Unhealthy servers are detected and replaced with no action.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548640" y="4297680"/>
            <a:ext cx="11091240" cy="1325520"/>
          </a:xfrm>
          <a:prstGeom prst="roundRect">
            <a:avLst>
              <a:gd name="adj" fmla="val 5517"/>
            </a:avLst>
          </a:prstGeom>
          <a:solidFill>
            <a:srgbClr val="eef4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822960" y="44348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What happens when a release drops and traffic spikes?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822960" y="484632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The load balancer </a:t>
            </a:r>
            <a:r>
              <a:rPr b="1" lang="en-US" sz="1350" strike="noStrike" u="none">
                <a:solidFill>
                  <a:srgbClr val="0a4d68"/>
                </a:solidFill>
                <a:effectLst/>
                <a:uFillTx/>
                <a:latin typeface="Calibri"/>
                <a:ea typeface="Calibri"/>
              </a:rPr>
              <a:t>stops routing</a:t>
            </a:r>
            <a:r>
              <a:rPr b="0" lang="en-US" sz="13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 to the failed zone and the Auto Scaling Group </a:t>
            </a:r>
            <a:r>
              <a:rPr b="1" lang="en-US" sz="1350" strike="noStrike" u="none">
                <a:solidFill>
                  <a:srgbClr val="0a4d68"/>
                </a:solidFill>
                <a:effectLst/>
                <a:uFillTx/>
                <a:latin typeface="Calibri"/>
                <a:ea typeface="Calibri"/>
              </a:rPr>
              <a:t>launches replacements</a:t>
            </a:r>
            <a:r>
              <a:rPr b="0" lang="en-US" sz="13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 in the healthy zone, so the shop keeps selling. (Database HA is the RDS upgrade noted earlier.)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8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AUTOMATION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Infrastructure as Code with Terraform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548640" y="1691640"/>
            <a:ext cx="566892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749880" y="191124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749880" y="1911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1371600" y="18198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Everything in code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1371600" y="21488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The entire environment is defined in ~10 text files.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548640" y="2715840"/>
            <a:ext cx="566892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8"/>
          <p:cNvSpPr/>
          <p:nvPr/>
        </p:nvSpPr>
        <p:spPr>
          <a:xfrm>
            <a:off x="749880" y="2935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749880" y="2935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1371600" y="284364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One command to build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1371600" y="31730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terraform apply creates all 26 resources in order.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548640" y="3740040"/>
            <a:ext cx="566892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3"/>
          <p:cNvSpPr/>
          <p:nvPr/>
        </p:nvSpPr>
        <p:spPr>
          <a:xfrm>
            <a:off x="749880" y="39592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4"/>
          <p:cNvSpPr/>
          <p:nvPr/>
        </p:nvSpPr>
        <p:spPr>
          <a:xfrm>
            <a:off x="749880" y="3959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1371600" y="386784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One command to remove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1371600" y="41972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terraform destroy tears it all down — no leftovers.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548640" y="4763880"/>
            <a:ext cx="566892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749880" y="49834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749880" y="4983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1371600" y="489204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Repeatable &amp; reviewable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1371600" y="52210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Version-controlled, consistent, and easy to share.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6492240" y="1691640"/>
            <a:ext cx="5147640" cy="4087080"/>
          </a:xfrm>
          <a:prstGeom prst="roundRect">
            <a:avLst>
              <a:gd name="adj" fmla="val 1342"/>
            </a:avLst>
          </a:prstGeom>
          <a:solidFill>
            <a:srgbClr val="0b1f3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7f93a5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3"/>
          <p:cNvSpPr/>
          <p:nvPr/>
        </p:nvSpPr>
        <p:spPr>
          <a:xfrm>
            <a:off x="6720840" y="1901880"/>
            <a:ext cx="145800" cy="1458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4"/>
          <p:cNvSpPr/>
          <p:nvPr/>
        </p:nvSpPr>
        <p:spPr>
          <a:xfrm>
            <a:off x="6976800" y="1901880"/>
            <a:ext cx="145800" cy="1458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5"/>
          <p:cNvSpPr/>
          <p:nvPr/>
        </p:nvSpPr>
        <p:spPr>
          <a:xfrm>
            <a:off x="7232760" y="1901880"/>
            <a:ext cx="145800" cy="1458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6492240" y="1828800"/>
            <a:ext cx="514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595a4"/>
                </a:solidFill>
                <a:effectLst/>
                <a:uFillTx/>
                <a:latin typeface="Courier New"/>
                <a:ea typeface="Courier New"/>
              </a:rPr>
              <a:t>Terminal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7"/>
          <p:cNvSpPr/>
          <p:nvPr/>
        </p:nvSpPr>
        <p:spPr>
          <a:xfrm>
            <a:off x="6766560" y="2286000"/>
            <a:ext cx="46630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250" strike="noStrike" u="none">
                <a:solidFill>
                  <a:srgbClr val="27c93f"/>
                </a:solidFill>
                <a:effectLst/>
                <a:uFillTx/>
                <a:latin typeface="Courier New"/>
                <a:ea typeface="Courier New"/>
              </a:rPr>
              <a:t>$ terraform init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50" strike="noStrike" u="none">
                <a:solidFill>
                  <a:srgbClr val="aec2d6"/>
                </a:solidFill>
                <a:effectLst/>
                <a:uFillTx/>
                <a:latin typeface="Courier New"/>
                <a:ea typeface="Courier New"/>
              </a:rPr>
              <a:t>Terraform has been initialized.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50" strike="noStrike" u="none">
                <a:solidFill>
                  <a:srgbClr val="27c93f"/>
                </a:solidFill>
                <a:effectLst/>
                <a:uFillTx/>
                <a:latin typeface="Courier New"/>
                <a:ea typeface="Courier New"/>
              </a:rPr>
              <a:t>$ terraform plan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50" strike="noStrike" u="none">
                <a:solidFill>
                  <a:srgbClr val="aec2d6"/>
                </a:solidFill>
                <a:effectLst/>
                <a:uFillTx/>
                <a:latin typeface="Courier New"/>
                <a:ea typeface="Courier New"/>
              </a:rPr>
              <a:t>Plan: 26 to add.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50" strike="noStrike" u="none">
                <a:solidFill>
                  <a:srgbClr val="27c93f"/>
                </a:solidFill>
                <a:effectLst/>
                <a:uFillTx/>
                <a:latin typeface="Courier New"/>
                <a:ea typeface="Courier New"/>
              </a:rPr>
              <a:t>$ terraform apply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50" strike="noStrike" u="none">
                <a:solidFill>
                  <a:srgbClr val="aec2d6"/>
                </a:solidFill>
                <a:effectLst/>
                <a:uFillTx/>
                <a:latin typeface="Courier New"/>
                <a:ea typeface="Courier New"/>
              </a:rPr>
              <a:t>Apply complete! 26 added.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50" strike="noStrike" u="none">
                <a:solidFill>
                  <a:srgbClr val="aec2d6"/>
                </a:solidFill>
                <a:effectLst/>
                <a:uFillTx/>
                <a:latin typeface="Courier New"/>
                <a:ea typeface="Courier New"/>
              </a:rPr>
              <a:t>wordpress_url = </a:t>
            </a:r>
            <a:r>
              <a:rPr b="0" lang="en-US" sz="1250" strike="noStrike" u="none">
                <a:solidFill>
                  <a:srgbClr val="ff9900"/>
                </a:solidFill>
                <a:effectLst/>
                <a:uFillTx/>
                <a:latin typeface="Courier New"/>
                <a:ea typeface="Courier New"/>
              </a:rPr>
              <a:t>http://ha-wordpress...</a:t>
            </a: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endParaRPr b="0" lang="en-GB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8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9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TERRAFORM CODE · EXAMPLE 1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Defining the Network: VPC &amp; Gateway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548640" y="14173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A few lines of Terraform describe the private network and its door to the internet.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548640" y="1874520"/>
            <a:ext cx="11091240" cy="4343040"/>
          </a:xfrm>
          <a:prstGeom prst="roundRect">
            <a:avLst>
              <a:gd name="adj" fmla="val 1053"/>
            </a:avLst>
          </a:prstGeom>
          <a:solidFill>
            <a:srgbClr val="0d1b2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7f93a5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777240" y="2084760"/>
            <a:ext cx="145800" cy="1458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5"/>
          <p:cNvSpPr/>
          <p:nvPr/>
        </p:nvSpPr>
        <p:spPr>
          <a:xfrm>
            <a:off x="1033200" y="2084760"/>
            <a:ext cx="145800" cy="1458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1289160" y="2084760"/>
            <a:ext cx="145800" cy="1458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868680" y="2395800"/>
            <a:ext cx="1051524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8db580"/>
                </a:solidFill>
                <a:effectLst/>
                <a:uFillTx/>
                <a:latin typeface="Courier New"/>
                <a:ea typeface="Courier New"/>
              </a:rPr>
              <a:t># The VPC — a private, isolated 10.0.0.0/16 network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resource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"aws_vpc"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"main"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cidr_block           = var.vpc_cidr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enable_dns_support   = true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enable_dns_hostnames = true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tags = { Name =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"ha-wordpress-vpc"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}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8db580"/>
                </a:solidFill>
                <a:effectLst/>
                <a:uFillTx/>
                <a:latin typeface="Courier New"/>
                <a:ea typeface="Courier New"/>
              </a:rPr>
              <a:t># The Internet Gateway: the VPC's door to the internet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resource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"aws_internet_gateway"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"main"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vpc_id = aws_vpc.main.id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tags = { Name =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"ha-wordpress-igw"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}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TERRAFORM CODE · EXAMPLE 2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Defining the Subnets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548640" y="14173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Using count, two lines of config create a public and a private subnet in each Availability Zone.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548640" y="1874520"/>
            <a:ext cx="11091240" cy="4343040"/>
          </a:xfrm>
          <a:prstGeom prst="roundRect">
            <a:avLst>
              <a:gd name="adj" fmla="val 1053"/>
            </a:avLst>
          </a:prstGeom>
          <a:solidFill>
            <a:srgbClr val="0d1b2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7f93a5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"/>
          <p:cNvSpPr/>
          <p:nvPr/>
        </p:nvSpPr>
        <p:spPr>
          <a:xfrm>
            <a:off x="777240" y="2084760"/>
            <a:ext cx="145800" cy="14580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1033200" y="2084760"/>
            <a:ext cx="145800" cy="14580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6"/>
          <p:cNvSpPr/>
          <p:nvPr/>
        </p:nvSpPr>
        <p:spPr>
          <a:xfrm>
            <a:off x="1289160" y="2084760"/>
            <a:ext cx="145800" cy="14580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868680" y="2395800"/>
            <a:ext cx="1051524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8db580"/>
                </a:solidFill>
                <a:effectLst/>
                <a:uFillTx/>
                <a:latin typeface="Courier New"/>
                <a:ea typeface="Courier New"/>
              </a:rPr>
              <a:t># Two public subnets — one per Availability Zone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resource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"aws_subnet"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"public"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count                   = 2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vpc_id                  = aws_vpc.main.id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cidr_block              = var.public_subnet_cidrs[count.index]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availability_zone       = var.availability_zones[count.index]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map_public_ip_on_launch = true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8db580"/>
                </a:solidFill>
                <a:effectLst/>
                <a:uFillTx/>
                <a:latin typeface="Courier New"/>
                <a:ea typeface="Courier New"/>
              </a:rPr>
              <a:t># Two private subnets — for the servers and the database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resource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"aws_subnet"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200" strike="noStrike" u="none">
                <a:solidFill>
                  <a:srgbClr val="ffb454"/>
                </a:solidFill>
                <a:effectLst/>
                <a:uFillTx/>
                <a:latin typeface="Courier New"/>
                <a:ea typeface="Courier New"/>
              </a:rPr>
              <a:t>"private"</a:t>
            </a: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count             = 2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vpc_id            = aws_vpc.main.id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cidr_block        = var.private_subnet_cidrs[count.index]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availability_zone = var.availability_zones[count.index]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STORE DESIGN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The Storefront — Front-Page Design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548640" y="1325880"/>
            <a:ext cx="4836960" cy="4964760"/>
          </a:xfrm>
          <a:prstGeom prst="roundRect">
            <a:avLst>
              <a:gd name="adj" fmla="val 756"/>
            </a:avLst>
          </a:prstGeom>
          <a:solidFill>
            <a:srgbClr val="ffffff"/>
          </a:solidFill>
          <a:ln w="15875">
            <a:solidFill>
              <a:srgbClr val="c9d6e2"/>
            </a:solidFill>
            <a:round/>
          </a:ln>
          <a:effectLst>
            <a:outerShdw algn="bl" blurRad="114480" dir="5400000" dist="38160" kx="0" ky="0" rotWithShape="0" sx="100000" sy="100000">
              <a:srgbClr val="9fb2c2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"/>
          <p:cNvSpPr/>
          <p:nvPr/>
        </p:nvSpPr>
        <p:spPr>
          <a:xfrm>
            <a:off x="548640" y="1325880"/>
            <a:ext cx="4836960" cy="3654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548640" y="1527120"/>
            <a:ext cx="4836960" cy="164160"/>
          </a:xfrm>
          <a:prstGeom prst="rect">
            <a:avLst/>
          </a:prstGeom>
          <a:solidFill>
            <a:srgbClr val="ed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694800" y="1444680"/>
            <a:ext cx="109440" cy="109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877680" y="1444680"/>
            <a:ext cx="109440" cy="109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7"/>
          <p:cNvSpPr/>
          <p:nvPr/>
        </p:nvSpPr>
        <p:spPr>
          <a:xfrm>
            <a:off x="1060560" y="1444680"/>
            <a:ext cx="109440" cy="109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1325880" y="1398960"/>
            <a:ext cx="3876840" cy="21924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9525">
            <a:solidFill>
              <a:srgbClr val="c9d6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1463040" y="1398960"/>
            <a:ext cx="3739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spinandgroove.com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2" name="Image 0" descr="/home/claude/storefront.png"/>
          <p:cNvPicPr/>
          <p:nvPr/>
        </p:nvPicPr>
        <p:blipFill>
          <a:blip r:embed="rId1"/>
          <a:stretch/>
        </p:blipFill>
        <p:spPr>
          <a:xfrm>
            <a:off x="621720" y="1691640"/>
            <a:ext cx="469044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Shape 10"/>
          <p:cNvSpPr/>
          <p:nvPr/>
        </p:nvSpPr>
        <p:spPr>
          <a:xfrm>
            <a:off x="621720" y="1691640"/>
            <a:ext cx="4690440" cy="4525920"/>
          </a:xfrm>
          <a:prstGeom prst="rect">
            <a:avLst/>
          </a:prstGeom>
          <a:noFill/>
          <a:ln w="9525">
            <a:solidFill>
              <a:srgbClr val="c9d6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1"/>
          <p:cNvSpPr/>
          <p:nvPr/>
        </p:nvSpPr>
        <p:spPr>
          <a:xfrm>
            <a:off x="5806440" y="1417320"/>
            <a:ext cx="580608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2"/>
          <p:cNvSpPr/>
          <p:nvPr/>
        </p:nvSpPr>
        <p:spPr>
          <a:xfrm>
            <a:off x="6007680" y="16369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6007680" y="1636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4"/>
          <p:cNvSpPr/>
          <p:nvPr/>
        </p:nvSpPr>
        <p:spPr>
          <a:xfrm>
            <a:off x="6629400" y="1545480"/>
            <a:ext cx="480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Bold hero + CTA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6629400" y="1856160"/>
            <a:ext cx="480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A headline and a 'Shop the collection' button drive the first click.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6"/>
          <p:cNvSpPr/>
          <p:nvPr/>
        </p:nvSpPr>
        <p:spPr>
          <a:xfrm>
            <a:off x="5806440" y="2459880"/>
            <a:ext cx="580608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7"/>
          <p:cNvSpPr/>
          <p:nvPr/>
        </p:nvSpPr>
        <p:spPr>
          <a:xfrm>
            <a:off x="6007680" y="26791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8"/>
          <p:cNvSpPr/>
          <p:nvPr/>
        </p:nvSpPr>
        <p:spPr>
          <a:xfrm>
            <a:off x="6007680" y="267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6629400" y="2587680"/>
            <a:ext cx="480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WooCommerce product grid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6629400" y="2898720"/>
            <a:ext cx="480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Featured records pulled straight from the store catalog.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1"/>
          <p:cNvSpPr/>
          <p:nvPr/>
        </p:nvSpPr>
        <p:spPr>
          <a:xfrm>
            <a:off x="5806440" y="3502080"/>
            <a:ext cx="580608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2"/>
          <p:cNvSpPr/>
          <p:nvPr/>
        </p:nvSpPr>
        <p:spPr>
          <a:xfrm>
            <a:off x="6007680" y="37216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6007680" y="3721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4"/>
          <p:cNvSpPr/>
          <p:nvPr/>
        </p:nvSpPr>
        <p:spPr>
          <a:xfrm>
            <a:off x="6629400" y="3630240"/>
            <a:ext cx="480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Trust signals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6629400" y="3940920"/>
            <a:ext cx="480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Shipping, returns and quality badges reassure buyers at a glance.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6"/>
          <p:cNvSpPr/>
          <p:nvPr/>
        </p:nvSpPr>
        <p:spPr>
          <a:xfrm>
            <a:off x="5806440" y="4544640"/>
            <a:ext cx="5806080" cy="895680"/>
          </a:xfrm>
          <a:prstGeom prst="roundRect">
            <a:avLst>
              <a:gd name="adj" fmla="val 8163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7"/>
          <p:cNvSpPr/>
          <p:nvPr/>
        </p:nvSpPr>
        <p:spPr>
          <a:xfrm>
            <a:off x="6007680" y="47638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8"/>
          <p:cNvSpPr/>
          <p:nvPr/>
        </p:nvSpPr>
        <p:spPr>
          <a:xfrm>
            <a:off x="6007680" y="4763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9"/>
          <p:cNvSpPr/>
          <p:nvPr/>
        </p:nvSpPr>
        <p:spPr>
          <a:xfrm>
            <a:off x="6629400" y="4672440"/>
            <a:ext cx="480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Clear nav &amp; footer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0"/>
          <p:cNvSpPr/>
          <p:nvPr/>
        </p:nvSpPr>
        <p:spPr>
          <a:xfrm>
            <a:off x="6629400" y="4983480"/>
            <a:ext cx="480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Shop, genres and help links guide shoppers through the whole store.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5806440" y="5596200"/>
            <a:ext cx="580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400" strike="noStrike" u="none">
                <a:solidFill>
                  <a:srgbClr val="7a5c3e"/>
                </a:solidFill>
                <a:effectLst/>
                <a:uFillTx/>
                <a:latin typeface="Segoe Script"/>
                <a:ea typeface="Segoe Script"/>
              </a:rPr>
              <a:t>Houssem was here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2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3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548640" y="3841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PUTTING IT LIVE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48640" y="65844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4d68"/>
                </a:solidFill>
                <a:effectLst/>
                <a:uFillTx/>
                <a:latin typeface="Cambria"/>
                <a:ea typeface="Cambria"/>
              </a:rPr>
              <a:t>Deployment &amp; Cleanup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548640" y="1691640"/>
            <a:ext cx="2697120" cy="228564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1486080" y="1965960"/>
            <a:ext cx="822600" cy="82260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4"/>
          <p:cNvSpPr/>
          <p:nvPr/>
        </p:nvSpPr>
        <p:spPr>
          <a:xfrm>
            <a:off x="1486080" y="1965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5"/>
          <p:cNvSpPr/>
          <p:nvPr/>
        </p:nvSpPr>
        <p:spPr>
          <a:xfrm>
            <a:off x="685800" y="29260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Configure AWS access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6"/>
          <p:cNvSpPr/>
          <p:nvPr/>
        </p:nvSpPr>
        <p:spPr>
          <a:xfrm>
            <a:off x="777240" y="33559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Temporary credentials from the AWS lab.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3264120" y="2377440"/>
            <a:ext cx="146520" cy="360"/>
          </a:xfrm>
          <a:prstGeom prst="line">
            <a:avLst/>
          </a:prstGeom>
          <a:ln w="31750">
            <a:solidFill>
              <a:srgbClr val="1c729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8"/>
          <p:cNvSpPr/>
          <p:nvPr/>
        </p:nvSpPr>
        <p:spPr>
          <a:xfrm>
            <a:off x="3429000" y="1691640"/>
            <a:ext cx="2697120" cy="228564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9"/>
          <p:cNvSpPr/>
          <p:nvPr/>
        </p:nvSpPr>
        <p:spPr>
          <a:xfrm>
            <a:off x="4366440" y="1965960"/>
            <a:ext cx="822600" cy="82260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0"/>
          <p:cNvSpPr/>
          <p:nvPr/>
        </p:nvSpPr>
        <p:spPr>
          <a:xfrm>
            <a:off x="4366440" y="1965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1"/>
          <p:cNvSpPr/>
          <p:nvPr/>
        </p:nvSpPr>
        <p:spPr>
          <a:xfrm>
            <a:off x="3566160" y="29260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terraform init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2"/>
          <p:cNvSpPr/>
          <p:nvPr/>
        </p:nvSpPr>
        <p:spPr>
          <a:xfrm>
            <a:off x="3657600" y="33559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Download the AWS provider (one time).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3"/>
          <p:cNvSpPr/>
          <p:nvPr/>
        </p:nvSpPr>
        <p:spPr>
          <a:xfrm>
            <a:off x="6144480" y="2377440"/>
            <a:ext cx="146520" cy="360"/>
          </a:xfrm>
          <a:prstGeom prst="line">
            <a:avLst/>
          </a:prstGeom>
          <a:ln w="31750">
            <a:solidFill>
              <a:srgbClr val="1c729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4"/>
          <p:cNvSpPr/>
          <p:nvPr/>
        </p:nvSpPr>
        <p:spPr>
          <a:xfrm>
            <a:off x="6309360" y="1691640"/>
            <a:ext cx="2697120" cy="228564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5"/>
          <p:cNvSpPr/>
          <p:nvPr/>
        </p:nvSpPr>
        <p:spPr>
          <a:xfrm>
            <a:off x="7246800" y="1965960"/>
            <a:ext cx="822600" cy="82260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6"/>
          <p:cNvSpPr/>
          <p:nvPr/>
        </p:nvSpPr>
        <p:spPr>
          <a:xfrm>
            <a:off x="7246800" y="1965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7"/>
          <p:cNvSpPr/>
          <p:nvPr/>
        </p:nvSpPr>
        <p:spPr>
          <a:xfrm>
            <a:off x="6446520" y="29260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terraform plan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6537960" y="33559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Preview every resource before creating.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9024840" y="2377440"/>
            <a:ext cx="146520" cy="360"/>
          </a:xfrm>
          <a:prstGeom prst="line">
            <a:avLst/>
          </a:prstGeom>
          <a:ln w="31750">
            <a:solidFill>
              <a:srgbClr val="1c729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0"/>
          <p:cNvSpPr/>
          <p:nvPr/>
        </p:nvSpPr>
        <p:spPr>
          <a:xfrm>
            <a:off x="9189720" y="1691640"/>
            <a:ext cx="2697120" cy="2285640"/>
          </a:xfrm>
          <a:prstGeom prst="roundRect">
            <a:avLst>
              <a:gd name="adj" fmla="val 3200"/>
            </a:avLst>
          </a:prstGeom>
          <a:solidFill>
            <a:srgbClr val="eef4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fb2c2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1"/>
          <p:cNvSpPr/>
          <p:nvPr/>
        </p:nvSpPr>
        <p:spPr>
          <a:xfrm>
            <a:off x="10127160" y="1965960"/>
            <a:ext cx="822600" cy="82260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2"/>
          <p:cNvSpPr/>
          <p:nvPr/>
        </p:nvSpPr>
        <p:spPr>
          <a:xfrm>
            <a:off x="10127160" y="19659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3"/>
          <p:cNvSpPr/>
          <p:nvPr/>
        </p:nvSpPr>
        <p:spPr>
          <a:xfrm>
            <a:off x="9326880" y="29260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terraform apply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4"/>
          <p:cNvSpPr/>
          <p:nvPr/>
        </p:nvSpPr>
        <p:spPr>
          <a:xfrm>
            <a:off x="9418320" y="33559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Build the full stack and get the site URL.</a:t>
            </a:r>
            <a:endParaRPr b="0" lang="en-GB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5"/>
          <p:cNvSpPr/>
          <p:nvPr/>
        </p:nvSpPr>
        <p:spPr>
          <a:xfrm>
            <a:off x="548640" y="4343400"/>
            <a:ext cx="11091240" cy="13712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5875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6"/>
          <p:cNvSpPr/>
          <p:nvPr/>
        </p:nvSpPr>
        <p:spPr>
          <a:xfrm>
            <a:off x="868680" y="4709160"/>
            <a:ext cx="639720" cy="63972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7"/>
          <p:cNvSpPr/>
          <p:nvPr/>
        </p:nvSpPr>
        <p:spPr>
          <a:xfrm>
            <a:off x="868680" y="47091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!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8"/>
          <p:cNvSpPr/>
          <p:nvPr/>
        </p:nvSpPr>
        <p:spPr>
          <a:xfrm>
            <a:off x="1691640" y="448056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b35900"/>
                </a:solidFill>
                <a:effectLst/>
                <a:uFillTx/>
                <a:latin typeface="Cambria"/>
                <a:ea typeface="Cambria"/>
              </a:rPr>
              <a:t>Remember to clean up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9"/>
          <p:cNvSpPr/>
          <p:nvPr/>
        </p:nvSpPr>
        <p:spPr>
          <a:xfrm>
            <a:off x="1691640" y="486468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The load balancer, NAT gateway, and database cost money while running. Run </a:t>
            </a:r>
            <a:r>
              <a:rPr b="1" lang="en-US" sz="1300" strike="noStrike" u="none">
                <a:solidFill>
                  <a:srgbClr val="b35900"/>
                </a:solidFill>
                <a:effectLst/>
                <a:uFillTx/>
                <a:latin typeface="Courier New"/>
                <a:ea typeface="Courier New"/>
              </a:rPr>
              <a:t>terraform destroy</a:t>
            </a:r>
            <a:r>
              <a:rPr b="0" lang="en-US" sz="1300" strike="noStrike" u="none">
                <a:solidFill>
                  <a:srgbClr val="16222e"/>
                </a:solidFill>
                <a:effectLst/>
                <a:uFillTx/>
                <a:latin typeface="Calibri"/>
                <a:ea typeface="Calibri"/>
              </a:rPr>
              <a:t> when finished to remove everything.</a:t>
            </a:r>
            <a:endParaRPr b="0" lang="en-GB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0"/>
          <p:cNvSpPr/>
          <p:nvPr/>
        </p:nvSpPr>
        <p:spPr>
          <a:xfrm>
            <a:off x="548640" y="6419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Online Vinyl Store on AWS  ·  WordPress + WooCommerce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1"/>
          <p:cNvSpPr/>
          <p:nvPr/>
        </p:nvSpPr>
        <p:spPr>
          <a:xfrm>
            <a:off x="11155680" y="641916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a7b8a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-1371600" y="-1371600"/>
            <a:ext cx="3657240" cy="365724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"/>
          <p:cNvSpPr/>
          <p:nvPr/>
        </p:nvSpPr>
        <p:spPr>
          <a:xfrm>
            <a:off x="10241280" y="4389120"/>
            <a:ext cx="3474360" cy="3474360"/>
          </a:xfrm>
          <a:prstGeom prst="ellipse">
            <a:avLst/>
          </a:prstGeom>
          <a:solidFill>
            <a:srgbClr val="0a4d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731520" y="7772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00" strike="noStrike" u="non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KEY TAKEAWAYS</a:t>
            </a:r>
            <a:endParaRPr b="0" lang="en-GB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731520" y="11430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Production-Shaped E-Commerce Architecture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731520" y="2286000"/>
            <a:ext cx="5257440" cy="95976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5"/>
          <p:cNvSpPr/>
          <p:nvPr/>
        </p:nvSpPr>
        <p:spPr>
          <a:xfrm>
            <a:off x="960120" y="2532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960120" y="2532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7"/>
          <p:cNvSpPr/>
          <p:nvPr/>
        </p:nvSpPr>
        <p:spPr>
          <a:xfrm>
            <a:off x="1600200" y="24321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Always open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1600200" y="2779920"/>
            <a:ext cx="4251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ec2d6"/>
                </a:solidFill>
                <a:effectLst/>
                <a:uFillTx/>
                <a:latin typeface="Calibri"/>
                <a:ea typeface="Calibri"/>
              </a:rPr>
              <a:t>The storefront is redundant across two Availability Zones.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9"/>
          <p:cNvSpPr/>
          <p:nvPr/>
        </p:nvSpPr>
        <p:spPr>
          <a:xfrm>
            <a:off x="6309360" y="2286000"/>
            <a:ext cx="5257440" cy="95976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6537960" y="2532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6537960" y="2532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2"/>
          <p:cNvSpPr/>
          <p:nvPr/>
        </p:nvSpPr>
        <p:spPr>
          <a:xfrm>
            <a:off x="7178040" y="24321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Scales on demand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7178040" y="2779920"/>
            <a:ext cx="4251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ec2d6"/>
                </a:solidFill>
                <a:effectLst/>
                <a:uFillTx/>
                <a:latin typeface="Calibri"/>
                <a:ea typeface="Calibri"/>
              </a:rPr>
              <a:t>The storefront fleet adjusts to shopper traffic on its own.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4"/>
          <p:cNvSpPr/>
          <p:nvPr/>
        </p:nvSpPr>
        <p:spPr>
          <a:xfrm>
            <a:off x="731520" y="3429000"/>
            <a:ext cx="5257440" cy="95976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960120" y="3675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6"/>
          <p:cNvSpPr/>
          <p:nvPr/>
        </p:nvSpPr>
        <p:spPr>
          <a:xfrm>
            <a:off x="960120" y="367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1600200" y="35751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Secure checkout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8"/>
          <p:cNvSpPr/>
          <p:nvPr/>
        </p:nvSpPr>
        <p:spPr>
          <a:xfrm>
            <a:off x="1600200" y="3922920"/>
            <a:ext cx="4251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ec2d6"/>
                </a:solidFill>
                <a:effectLst/>
                <a:uFillTx/>
                <a:latin typeface="Calibri"/>
                <a:ea typeface="Calibri"/>
              </a:rPr>
              <a:t>Layered access with customer &amp; order data fully private.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9"/>
          <p:cNvSpPr/>
          <p:nvPr/>
        </p:nvSpPr>
        <p:spPr>
          <a:xfrm>
            <a:off x="6309360" y="3429000"/>
            <a:ext cx="5257440" cy="959760"/>
          </a:xfrm>
          <a:prstGeom prst="roundRect">
            <a:avLst>
              <a:gd name="adj" fmla="val 7619"/>
            </a:avLst>
          </a:prstGeom>
          <a:solidFill>
            <a:srgbClr val="133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0"/>
          <p:cNvSpPr/>
          <p:nvPr/>
        </p:nvSpPr>
        <p:spPr>
          <a:xfrm>
            <a:off x="6537960" y="3675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1"/>
          <p:cNvSpPr/>
          <p:nvPr/>
        </p:nvSpPr>
        <p:spPr>
          <a:xfrm>
            <a:off x="6537960" y="367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2"/>
          <p:cNvSpPr/>
          <p:nvPr/>
        </p:nvSpPr>
        <p:spPr>
          <a:xfrm>
            <a:off x="7178040" y="35751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Fully automated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3"/>
          <p:cNvSpPr/>
          <p:nvPr/>
        </p:nvSpPr>
        <p:spPr>
          <a:xfrm>
            <a:off x="7178040" y="3922920"/>
            <a:ext cx="4251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ec2d6"/>
                </a:solidFill>
                <a:effectLst/>
                <a:uFillTx/>
                <a:latin typeface="Calibri"/>
                <a:ea typeface="Calibri"/>
              </a:rPr>
              <a:t>The whole stack is built and destroyed from code.</a:t>
            </a:r>
            <a:endParaRPr b="0" lang="en-GB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4"/>
          <p:cNvSpPr/>
          <p:nvPr/>
        </p:nvSpPr>
        <p:spPr>
          <a:xfrm>
            <a:off x="731520" y="51663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9900"/>
                </a:solidFill>
                <a:effectLst/>
                <a:uFillTx/>
                <a:latin typeface="Cambria"/>
                <a:ea typeface="Cambria"/>
              </a:rPr>
              <a:t>Thank you  ·  Questions?</a:t>
            </a:r>
            <a:endParaRPr b="0" lang="en-GB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2026-10-19T13:53:41Z</dcterms:created>
  <dc:creator>Houssem</dc:creator>
  <dc:description/>
  <dc:language>en-GB</dc:language>
  <cp:lastModifiedBy/>
  <dcterms:modified xsi:type="dcterms:W3CDTF">2026-10-19T16:44:23Z</dcterms:modified>
  <cp:revision>2</cp:revision>
  <dc:subject>PptxGenJS Presentation</dc:subject>
  <dc:title>Highly Available Online Vinyl Store on AWS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